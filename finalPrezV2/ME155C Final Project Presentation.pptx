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Proxima Nova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roximaNova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italic.fntdata"/><Relationship Id="rId25" Type="http://schemas.openxmlformats.org/officeDocument/2006/relationships/font" Target="fonts/ProximaNova-bold.fntdata"/><Relationship Id="rId27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e70cbba6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e70cbba6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e70cbba6d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e70cbba6d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e70cbba6d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e70cbba6d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e70cbba6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5e70cbba6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e70cbba6d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e70cbba6d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ba9864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ba9864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fba98648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fba98648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fba98648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fba98648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70cbba6d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70cbba6d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e70cbba6d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5e70cbba6d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e70cbba6d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5e70cbba6d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e70cbba6d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5e70cbba6d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5e70cbba6d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5e70cbba6d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e70cbba6d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e70cbba6d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e70cbba6d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5e70cbba6d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5fba98648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5fba98648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e70cbba6d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5e70cbba6d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1A3828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Inverted Pendulum: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Swing-up, Balance, Catching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Raaghav Thirumaligai, Cole Giusto, Tien Nguyen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2"/>
              <a:t>June 2, 2025</a:t>
            </a:r>
            <a:endParaRPr sz="1632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Heartbreaking backstory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4758600" cy="10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vibrational </a:t>
            </a:r>
            <a:r>
              <a:rPr lang="en"/>
              <a:t>stabilization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double cart pendula spring system</a:t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5126975" y="2421271"/>
            <a:ext cx="934500" cy="7128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highlight>
                  <a:schemeClr val="accent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400">
              <a:highlight>
                <a:schemeClr val="accent5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8" name="Google Shape;68;p14"/>
          <p:cNvCxnSpPr>
            <a:stCxn id="67" idx="2"/>
          </p:cNvCxnSpPr>
          <p:nvPr/>
        </p:nvCxnSpPr>
        <p:spPr>
          <a:xfrm flipH="1">
            <a:off x="5167325" y="3134071"/>
            <a:ext cx="426900" cy="641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69" name="Google Shape;69;p14"/>
          <p:cNvCxnSpPr/>
          <p:nvPr/>
        </p:nvCxnSpPr>
        <p:spPr>
          <a:xfrm>
            <a:off x="5594245" y="3133991"/>
            <a:ext cx="1800" cy="1153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0" name="Google Shape;70;p14"/>
          <p:cNvSpPr txBox="1"/>
          <p:nvPr>
            <p:ph type="title"/>
          </p:nvPr>
        </p:nvSpPr>
        <p:spPr>
          <a:xfrm>
            <a:off x="5594245" y="3822586"/>
            <a:ext cx="348600" cy="4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5404395" y="3433873"/>
            <a:ext cx="197430" cy="86784"/>
          </a:xfrm>
          <a:custGeom>
            <a:rect b="b" l="l" r="r" t="t"/>
            <a:pathLst>
              <a:path extrusionOk="0" h="4705" w="10979">
                <a:moveTo>
                  <a:pt x="10979" y="4705"/>
                </a:moveTo>
                <a:cubicBezTo>
                  <a:pt x="9986" y="4601"/>
                  <a:pt x="6849" y="4862"/>
                  <a:pt x="5019" y="4078"/>
                </a:cubicBezTo>
                <a:cubicBezTo>
                  <a:pt x="3189" y="3294"/>
                  <a:pt x="837" y="680"/>
                  <a:pt x="0" y="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2" name="Google Shape;72;p14"/>
          <p:cNvSpPr/>
          <p:nvPr/>
        </p:nvSpPr>
        <p:spPr>
          <a:xfrm>
            <a:off x="5253116" y="3133991"/>
            <a:ext cx="131700" cy="135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5811319" y="3133991"/>
            <a:ext cx="131700" cy="135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4"/>
          <p:cNvSpPr txBox="1"/>
          <p:nvPr>
            <p:ph type="title"/>
          </p:nvPr>
        </p:nvSpPr>
        <p:spPr>
          <a:xfrm>
            <a:off x="6073149" y="2365050"/>
            <a:ext cx="522300" cy="4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u</a:t>
            </a:r>
            <a:endParaRPr baseline="-25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5" name="Google Shape;75;p14"/>
          <p:cNvCxnSpPr/>
          <p:nvPr/>
        </p:nvCxnSpPr>
        <p:spPr>
          <a:xfrm>
            <a:off x="6061515" y="2777410"/>
            <a:ext cx="395100" cy="3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6" name="Google Shape;76;p14"/>
          <p:cNvSpPr/>
          <p:nvPr/>
        </p:nvSpPr>
        <p:spPr>
          <a:xfrm>
            <a:off x="3034800" y="2420856"/>
            <a:ext cx="936900" cy="6693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highlight>
                  <a:schemeClr val="accent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400">
              <a:highlight>
                <a:schemeClr val="accent5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7" name="Google Shape;77;p14"/>
          <p:cNvCxnSpPr>
            <a:stCxn id="76" idx="2"/>
          </p:cNvCxnSpPr>
          <p:nvPr/>
        </p:nvCxnSpPr>
        <p:spPr>
          <a:xfrm flipH="1">
            <a:off x="3075450" y="3090156"/>
            <a:ext cx="427800" cy="602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78" name="Google Shape;78;p14"/>
          <p:cNvCxnSpPr/>
          <p:nvPr/>
        </p:nvCxnSpPr>
        <p:spPr>
          <a:xfrm>
            <a:off x="3503199" y="3090287"/>
            <a:ext cx="1800" cy="1083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9" name="Google Shape;79;p14"/>
          <p:cNvSpPr txBox="1"/>
          <p:nvPr>
            <p:ph type="title"/>
          </p:nvPr>
        </p:nvSpPr>
        <p:spPr>
          <a:xfrm>
            <a:off x="3503199" y="3737057"/>
            <a:ext cx="3495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3312891" y="3371954"/>
            <a:ext cx="197896" cy="81514"/>
          </a:xfrm>
          <a:custGeom>
            <a:rect b="b" l="l" r="r" t="t"/>
            <a:pathLst>
              <a:path extrusionOk="0" h="4705" w="10979">
                <a:moveTo>
                  <a:pt x="10979" y="4705"/>
                </a:moveTo>
                <a:cubicBezTo>
                  <a:pt x="9986" y="4601"/>
                  <a:pt x="6849" y="4862"/>
                  <a:pt x="5019" y="4078"/>
                </a:cubicBezTo>
                <a:cubicBezTo>
                  <a:pt x="3189" y="3294"/>
                  <a:pt x="837" y="680"/>
                  <a:pt x="0" y="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" name="Google Shape;81;p14"/>
          <p:cNvSpPr txBox="1"/>
          <p:nvPr>
            <p:ph type="title"/>
          </p:nvPr>
        </p:nvSpPr>
        <p:spPr>
          <a:xfrm>
            <a:off x="3086828" y="3407900"/>
            <a:ext cx="5763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baseline="-25000" lang="en"/>
              <a:t>1</a:t>
            </a:r>
            <a:endParaRPr baseline="-2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3161246" y="3090287"/>
            <a:ext cx="132000" cy="126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3720798" y="3090287"/>
            <a:ext cx="132000" cy="126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3994750" y="2666107"/>
            <a:ext cx="1132225" cy="229500"/>
          </a:xfrm>
          <a:custGeom>
            <a:rect b="b" l="l" r="r" t="t"/>
            <a:pathLst>
              <a:path extrusionOk="0" h="9180" w="45289">
                <a:moveTo>
                  <a:pt x="0" y="4493"/>
                </a:moveTo>
                <a:cubicBezTo>
                  <a:pt x="2157" y="4433"/>
                  <a:pt x="10364" y="4853"/>
                  <a:pt x="12940" y="4134"/>
                </a:cubicBezTo>
                <a:cubicBezTo>
                  <a:pt x="15516" y="3415"/>
                  <a:pt x="14737" y="-539"/>
                  <a:pt x="15456" y="180"/>
                </a:cubicBezTo>
                <a:cubicBezTo>
                  <a:pt x="16175" y="899"/>
                  <a:pt x="16534" y="8447"/>
                  <a:pt x="17253" y="8447"/>
                </a:cubicBezTo>
                <a:cubicBezTo>
                  <a:pt x="17972" y="8447"/>
                  <a:pt x="18811" y="60"/>
                  <a:pt x="19769" y="180"/>
                </a:cubicBezTo>
                <a:cubicBezTo>
                  <a:pt x="20728" y="300"/>
                  <a:pt x="21746" y="9106"/>
                  <a:pt x="23004" y="9166"/>
                </a:cubicBezTo>
                <a:cubicBezTo>
                  <a:pt x="24262" y="9226"/>
                  <a:pt x="25580" y="1018"/>
                  <a:pt x="27317" y="539"/>
                </a:cubicBezTo>
                <a:cubicBezTo>
                  <a:pt x="29054" y="60"/>
                  <a:pt x="30432" y="5511"/>
                  <a:pt x="33427" y="6290"/>
                </a:cubicBezTo>
                <a:cubicBezTo>
                  <a:pt x="36422" y="7069"/>
                  <a:pt x="43312" y="5392"/>
                  <a:pt x="45289" y="5212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" name="Google Shape;85;p14"/>
          <p:cNvSpPr txBox="1"/>
          <p:nvPr>
            <p:ph type="title"/>
          </p:nvPr>
        </p:nvSpPr>
        <p:spPr>
          <a:xfrm>
            <a:off x="5167353" y="3512300"/>
            <a:ext cx="5763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baseline="-25000" lang="en"/>
              <a:t>2</a:t>
            </a:r>
            <a:endParaRPr baseline="-2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Description</a:t>
            </a:r>
            <a:endParaRPr/>
          </a:p>
        </p:txBody>
      </p:sp>
      <p:sp>
        <p:nvSpPr>
          <p:cNvPr id="91" name="Google Shape;91;p15"/>
          <p:cNvSpPr txBox="1"/>
          <p:nvPr>
            <p:ph idx="1" type="body"/>
          </p:nvPr>
        </p:nvSpPr>
        <p:spPr>
          <a:xfrm>
            <a:off x="311700" y="1152475"/>
            <a:ext cx="4758600" cy="21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Asymmetric metal rod with end pinned to cart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Encoder for angle of rod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Single Motor to drive cart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Encoder for position of cart</a:t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6714325" y="1306950"/>
            <a:ext cx="1299300" cy="9660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highlight>
                  <a:schemeClr val="accent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400">
              <a:highlight>
                <a:schemeClr val="accent5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3" name="Google Shape;93;p15"/>
          <p:cNvCxnSpPr>
            <a:stCxn id="92" idx="2"/>
          </p:cNvCxnSpPr>
          <p:nvPr/>
        </p:nvCxnSpPr>
        <p:spPr>
          <a:xfrm flipH="1">
            <a:off x="6770575" y="2272950"/>
            <a:ext cx="593400" cy="869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94" name="Google Shape;94;p15"/>
          <p:cNvCxnSpPr/>
          <p:nvPr/>
        </p:nvCxnSpPr>
        <p:spPr>
          <a:xfrm>
            <a:off x="7363975" y="2272950"/>
            <a:ext cx="2700" cy="1563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5" name="Google Shape;95;p15"/>
          <p:cNvSpPr txBox="1"/>
          <p:nvPr>
            <p:ph type="title"/>
          </p:nvPr>
        </p:nvSpPr>
        <p:spPr>
          <a:xfrm>
            <a:off x="7363975" y="3206250"/>
            <a:ext cx="484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7100025" y="2679400"/>
            <a:ext cx="274475" cy="117625"/>
          </a:xfrm>
          <a:custGeom>
            <a:rect b="b" l="l" r="r" t="t"/>
            <a:pathLst>
              <a:path extrusionOk="0" h="4705" w="10979">
                <a:moveTo>
                  <a:pt x="10979" y="4705"/>
                </a:moveTo>
                <a:cubicBezTo>
                  <a:pt x="9986" y="4601"/>
                  <a:pt x="6849" y="4862"/>
                  <a:pt x="5019" y="4078"/>
                </a:cubicBezTo>
                <a:cubicBezTo>
                  <a:pt x="3189" y="3294"/>
                  <a:pt x="837" y="680"/>
                  <a:pt x="0" y="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7" name="Google Shape;97;p15"/>
          <p:cNvSpPr txBox="1"/>
          <p:nvPr>
            <p:ph type="title"/>
          </p:nvPr>
        </p:nvSpPr>
        <p:spPr>
          <a:xfrm>
            <a:off x="6889700" y="2731275"/>
            <a:ext cx="484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6889700" y="2272950"/>
            <a:ext cx="183000" cy="183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7665775" y="2272950"/>
            <a:ext cx="183000" cy="183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" name="Google Shape;100;p15"/>
          <p:cNvSpPr txBox="1"/>
          <p:nvPr>
            <p:ph type="title"/>
          </p:nvPr>
        </p:nvSpPr>
        <p:spPr>
          <a:xfrm>
            <a:off x="8029800" y="1230750"/>
            <a:ext cx="7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u</a:t>
            </a:r>
            <a:endParaRPr baseline="-25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1" name="Google Shape;101;p15"/>
          <p:cNvCxnSpPr/>
          <p:nvPr/>
        </p:nvCxnSpPr>
        <p:spPr>
          <a:xfrm>
            <a:off x="8013625" y="1789650"/>
            <a:ext cx="549300" cy="6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2" name="Google Shape;102;p15"/>
          <p:cNvSpPr txBox="1"/>
          <p:nvPr>
            <p:ph type="title"/>
          </p:nvPr>
        </p:nvSpPr>
        <p:spPr>
          <a:xfrm>
            <a:off x="311700" y="291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Objectives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311700" y="3544700"/>
            <a:ext cx="6356100" cy="11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Stabilize downward equilibrium (for faster catching)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Stabilize upward equilibrium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State transition between equilibria</a:t>
            </a:r>
            <a:endParaRPr/>
          </a:p>
        </p:txBody>
      </p:sp>
      <p:cxnSp>
        <p:nvCxnSpPr>
          <p:cNvPr id="104" name="Google Shape;104;p15"/>
          <p:cNvCxnSpPr/>
          <p:nvPr/>
        </p:nvCxnSpPr>
        <p:spPr>
          <a:xfrm rot="10800000">
            <a:off x="7392275" y="857900"/>
            <a:ext cx="0" cy="30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5"/>
          <p:cNvCxnSpPr/>
          <p:nvPr/>
        </p:nvCxnSpPr>
        <p:spPr>
          <a:xfrm>
            <a:off x="7392275" y="1011350"/>
            <a:ext cx="5493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6" name="Google Shape;106;p15"/>
          <p:cNvSpPr txBox="1"/>
          <p:nvPr>
            <p:ph type="title"/>
          </p:nvPr>
        </p:nvSpPr>
        <p:spPr>
          <a:xfrm>
            <a:off x="7523025" y="526850"/>
            <a:ext cx="7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x</a:t>
            </a:r>
            <a:endParaRPr baseline="-25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Identification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311700" y="1152475"/>
            <a:ext cx="475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Logarithmic Sine sweep ( ƒ ∈ [0.3, 3] Hz)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Tfest on 30 experiments to estimate linear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Assumed integrator for cart, fit Voltage to Velocity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2 poles, 1 zero for cart, 3 poles 2 zeros for pendulum</a:t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6435325" y="2083163"/>
            <a:ext cx="1299300" cy="9660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highlight>
                  <a:schemeClr val="accent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400">
              <a:highlight>
                <a:schemeClr val="accent5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4" name="Google Shape;114;p16"/>
          <p:cNvCxnSpPr>
            <a:stCxn id="113" idx="2"/>
          </p:cNvCxnSpPr>
          <p:nvPr/>
        </p:nvCxnSpPr>
        <p:spPr>
          <a:xfrm flipH="1">
            <a:off x="6491575" y="3049163"/>
            <a:ext cx="593400" cy="869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115" name="Google Shape;115;p16"/>
          <p:cNvCxnSpPr/>
          <p:nvPr/>
        </p:nvCxnSpPr>
        <p:spPr>
          <a:xfrm>
            <a:off x="7084975" y="3049163"/>
            <a:ext cx="2700" cy="1563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6" name="Google Shape;116;p16"/>
          <p:cNvSpPr txBox="1"/>
          <p:nvPr>
            <p:ph type="title"/>
          </p:nvPr>
        </p:nvSpPr>
        <p:spPr>
          <a:xfrm>
            <a:off x="7084975" y="3982463"/>
            <a:ext cx="484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6821025" y="3455613"/>
            <a:ext cx="274475" cy="117625"/>
          </a:xfrm>
          <a:custGeom>
            <a:rect b="b" l="l" r="r" t="t"/>
            <a:pathLst>
              <a:path extrusionOk="0" h="4705" w="10979">
                <a:moveTo>
                  <a:pt x="10979" y="4705"/>
                </a:moveTo>
                <a:cubicBezTo>
                  <a:pt x="9986" y="4601"/>
                  <a:pt x="6849" y="4862"/>
                  <a:pt x="5019" y="4078"/>
                </a:cubicBezTo>
                <a:cubicBezTo>
                  <a:pt x="3189" y="3294"/>
                  <a:pt x="837" y="680"/>
                  <a:pt x="0" y="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8" name="Google Shape;118;p16"/>
          <p:cNvSpPr txBox="1"/>
          <p:nvPr>
            <p:ph type="title"/>
          </p:nvPr>
        </p:nvSpPr>
        <p:spPr>
          <a:xfrm>
            <a:off x="6610700" y="3507488"/>
            <a:ext cx="484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6610700" y="3049163"/>
            <a:ext cx="183000" cy="183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7386775" y="3049163"/>
            <a:ext cx="183000" cy="183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1" name="Google Shape;121;p16"/>
          <p:cNvSpPr txBox="1"/>
          <p:nvPr>
            <p:ph type="title"/>
          </p:nvPr>
        </p:nvSpPr>
        <p:spPr>
          <a:xfrm>
            <a:off x="6596650" y="530738"/>
            <a:ext cx="7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u</a:t>
            </a:r>
            <a:endParaRPr baseline="-25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498372" y="606938"/>
            <a:ext cx="1141900" cy="1479900"/>
          </a:xfrm>
          <a:custGeom>
            <a:rect b="b" l="l" r="r" t="t"/>
            <a:pathLst>
              <a:path extrusionOk="0" h="59196" w="45676">
                <a:moveTo>
                  <a:pt x="23629" y="59196"/>
                </a:moveTo>
                <a:cubicBezTo>
                  <a:pt x="27040" y="57149"/>
                  <a:pt x="44306" y="50380"/>
                  <a:pt x="44096" y="46916"/>
                </a:cubicBezTo>
                <a:cubicBezTo>
                  <a:pt x="43886" y="43452"/>
                  <a:pt x="29716" y="41405"/>
                  <a:pt x="22369" y="38414"/>
                </a:cubicBezTo>
                <a:cubicBezTo>
                  <a:pt x="15022" y="35423"/>
                  <a:pt x="118" y="32064"/>
                  <a:pt x="13" y="28968"/>
                </a:cubicBezTo>
                <a:cubicBezTo>
                  <a:pt x="-92" y="25872"/>
                  <a:pt x="14131" y="22986"/>
                  <a:pt x="21740" y="19837"/>
                </a:cubicBezTo>
                <a:cubicBezTo>
                  <a:pt x="29350" y="16688"/>
                  <a:pt x="45723" y="13382"/>
                  <a:pt x="45670" y="10076"/>
                </a:cubicBezTo>
                <a:cubicBezTo>
                  <a:pt x="45618" y="6770"/>
                  <a:pt x="25466" y="1679"/>
                  <a:pt x="21425" y="0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Identification of the stable equilibrium</a:t>
            </a:r>
            <a:endParaRPr/>
          </a:p>
        </p:txBody>
      </p:sp>
      <p:pic>
        <p:nvPicPr>
          <p:cNvPr id="128" name="Google Shape;128;p17" title="bode_dow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9650" y="1310338"/>
            <a:ext cx="3972675" cy="310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title="rlocus_dow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150" y="1152475"/>
            <a:ext cx="4260299" cy="3325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Modify for unstable equilibrium</a:t>
            </a:r>
            <a:endParaRPr/>
          </a:p>
        </p:txBody>
      </p:sp>
      <p:pic>
        <p:nvPicPr>
          <p:cNvPr id="135" name="Google Shape;135;p18" title="bode_u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8322" y="1017725"/>
            <a:ext cx="4413977" cy="366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 title="rlocus_u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350" y="971475"/>
            <a:ext cx="4501867" cy="37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State Machine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3669150" y="1263813"/>
            <a:ext cx="1805700" cy="10194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venir"/>
                <a:ea typeface="Avenir"/>
                <a:cs typeface="Avenir"/>
                <a:sym typeface="Avenir"/>
              </a:rPr>
              <a:t>Balancing Controller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2077200" y="2860288"/>
            <a:ext cx="1805700" cy="10194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venir"/>
                <a:ea typeface="Avenir"/>
                <a:cs typeface="Avenir"/>
                <a:sym typeface="Avenir"/>
              </a:rPr>
              <a:t>Swing-Up Controller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5261075" y="2860288"/>
            <a:ext cx="1805700" cy="10194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venir"/>
                <a:ea typeface="Avenir"/>
                <a:cs typeface="Avenir"/>
                <a:sym typeface="Avenir"/>
              </a:rPr>
              <a:t>Catching Controller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145" name="Google Shape;145;p19"/>
          <p:cNvCxnSpPr>
            <a:stCxn id="143" idx="0"/>
            <a:endCxn id="142" idx="1"/>
          </p:cNvCxnSpPr>
          <p:nvPr/>
        </p:nvCxnSpPr>
        <p:spPr>
          <a:xfrm rot="-5400000">
            <a:off x="2781150" y="1972288"/>
            <a:ext cx="1086900" cy="689100"/>
          </a:xfrm>
          <a:prstGeom prst="curvedConnector2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6" name="Google Shape;146;p19"/>
          <p:cNvCxnSpPr>
            <a:stCxn id="142" idx="3"/>
            <a:endCxn id="144" idx="0"/>
          </p:cNvCxnSpPr>
          <p:nvPr/>
        </p:nvCxnSpPr>
        <p:spPr>
          <a:xfrm>
            <a:off x="5474850" y="1773513"/>
            <a:ext cx="689100" cy="1086900"/>
          </a:xfrm>
          <a:prstGeom prst="curvedConnector2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" name="Google Shape;147;p19"/>
          <p:cNvCxnSpPr>
            <a:stCxn id="144" idx="2"/>
            <a:endCxn id="143" idx="2"/>
          </p:cNvCxnSpPr>
          <p:nvPr/>
        </p:nvCxnSpPr>
        <p:spPr>
          <a:xfrm rot="5400000">
            <a:off x="4571675" y="2288038"/>
            <a:ext cx="600" cy="3183900"/>
          </a:xfrm>
          <a:prstGeom prst="curvedConnector3">
            <a:avLst>
              <a:gd fmla="val 94039583" name="adj1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8" name="Google Shape;148;p19"/>
          <p:cNvSpPr/>
          <p:nvPr/>
        </p:nvSpPr>
        <p:spPr>
          <a:xfrm>
            <a:off x="311700" y="1263813"/>
            <a:ext cx="1805700" cy="10194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venir"/>
                <a:ea typeface="Avenir"/>
                <a:cs typeface="Avenir"/>
                <a:sym typeface="Avenir"/>
              </a:rPr>
              <a:t>‘initialize’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149" name="Google Shape;149;p19"/>
          <p:cNvCxnSpPr>
            <a:stCxn id="148" idx="2"/>
            <a:endCxn id="143" idx="1"/>
          </p:cNvCxnSpPr>
          <p:nvPr/>
        </p:nvCxnSpPr>
        <p:spPr>
          <a:xfrm flipH="1" rot="-5400000">
            <a:off x="1102500" y="2395263"/>
            <a:ext cx="1086900" cy="862800"/>
          </a:xfrm>
          <a:prstGeom prst="curvedConnector2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0" name="Google Shape;150;p19"/>
          <p:cNvSpPr txBox="1"/>
          <p:nvPr/>
        </p:nvSpPr>
        <p:spPr>
          <a:xfrm>
            <a:off x="565500" y="2780325"/>
            <a:ext cx="11457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disturbance</a:t>
            </a:r>
            <a:endParaRPr sz="15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2109550" y="1849725"/>
            <a:ext cx="1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" sz="15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near upright</a:t>
            </a:r>
            <a:endParaRPr sz="15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6014450" y="1849725"/>
            <a:ext cx="137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" sz="15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outside upright region</a:t>
            </a:r>
            <a:endParaRPr sz="15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3669125" y="4379875"/>
            <a:ext cx="18057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" sz="15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near straight down</a:t>
            </a:r>
            <a:endParaRPr sz="15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>
            <p:ph type="title"/>
          </p:nvPr>
        </p:nvSpPr>
        <p:spPr>
          <a:xfrm>
            <a:off x="4842500" y="3009800"/>
            <a:ext cx="484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Initialization</a:t>
            </a:r>
            <a:endParaRPr/>
          </a:p>
        </p:txBody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311700" y="1152475"/>
            <a:ext cx="4355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Accurate initial theta with gravity aligning the pendulum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Important to have accurate reading for inverted upward position</a:t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6837475" y="1585475"/>
            <a:ext cx="1299300" cy="9660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highlight>
                  <a:schemeClr val="accent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400">
              <a:highlight>
                <a:schemeClr val="accent5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2" name="Google Shape;162;p20"/>
          <p:cNvCxnSpPr>
            <a:stCxn id="161" idx="2"/>
          </p:cNvCxnSpPr>
          <p:nvPr/>
        </p:nvCxnSpPr>
        <p:spPr>
          <a:xfrm flipH="1">
            <a:off x="7486225" y="2551475"/>
            <a:ext cx="900" cy="987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163" name="Google Shape;163;p20"/>
          <p:cNvCxnSpPr/>
          <p:nvPr/>
        </p:nvCxnSpPr>
        <p:spPr>
          <a:xfrm>
            <a:off x="7487125" y="2551475"/>
            <a:ext cx="2700" cy="1563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4" name="Google Shape;164;p20"/>
          <p:cNvSpPr txBox="1"/>
          <p:nvPr>
            <p:ph type="title"/>
          </p:nvPr>
        </p:nvSpPr>
        <p:spPr>
          <a:xfrm>
            <a:off x="7487125" y="3484775"/>
            <a:ext cx="484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0"/>
          <p:cNvSpPr txBox="1"/>
          <p:nvPr>
            <p:ph type="title"/>
          </p:nvPr>
        </p:nvSpPr>
        <p:spPr>
          <a:xfrm>
            <a:off x="7421750" y="2823275"/>
            <a:ext cx="1110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7012850" y="2551475"/>
            <a:ext cx="183000" cy="183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7788925" y="2551475"/>
            <a:ext cx="183000" cy="183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4667125" y="1585475"/>
            <a:ext cx="1299300" cy="9660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highlight>
                  <a:schemeClr val="accent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400">
              <a:highlight>
                <a:schemeClr val="accent5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9" name="Google Shape;169;p20"/>
          <p:cNvCxnSpPr>
            <a:stCxn id="168" idx="2"/>
          </p:cNvCxnSpPr>
          <p:nvPr/>
        </p:nvCxnSpPr>
        <p:spPr>
          <a:xfrm flipH="1">
            <a:off x="4723375" y="2551475"/>
            <a:ext cx="593400" cy="869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170" name="Google Shape;170;p20"/>
          <p:cNvCxnSpPr/>
          <p:nvPr/>
        </p:nvCxnSpPr>
        <p:spPr>
          <a:xfrm>
            <a:off x="5316775" y="2551475"/>
            <a:ext cx="2700" cy="1563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1" name="Google Shape;171;p20"/>
          <p:cNvSpPr txBox="1"/>
          <p:nvPr>
            <p:ph type="title"/>
          </p:nvPr>
        </p:nvSpPr>
        <p:spPr>
          <a:xfrm>
            <a:off x="5316775" y="3484775"/>
            <a:ext cx="484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5052825" y="2957925"/>
            <a:ext cx="274475" cy="117625"/>
          </a:xfrm>
          <a:custGeom>
            <a:rect b="b" l="l" r="r" t="t"/>
            <a:pathLst>
              <a:path extrusionOk="0" h="4705" w="10979">
                <a:moveTo>
                  <a:pt x="10979" y="4705"/>
                </a:moveTo>
                <a:cubicBezTo>
                  <a:pt x="9986" y="4601"/>
                  <a:pt x="6849" y="4862"/>
                  <a:pt x="5019" y="4078"/>
                </a:cubicBezTo>
                <a:cubicBezTo>
                  <a:pt x="3189" y="3294"/>
                  <a:pt x="837" y="680"/>
                  <a:pt x="0" y="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3" name="Google Shape;173;p20"/>
          <p:cNvSpPr/>
          <p:nvPr/>
        </p:nvSpPr>
        <p:spPr>
          <a:xfrm>
            <a:off x="4842500" y="2551475"/>
            <a:ext cx="183000" cy="183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5618575" y="2551475"/>
            <a:ext cx="183000" cy="183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5" name="Google Shape;175;p20"/>
          <p:cNvSpPr txBox="1"/>
          <p:nvPr>
            <p:ph type="title"/>
          </p:nvPr>
        </p:nvSpPr>
        <p:spPr>
          <a:xfrm>
            <a:off x="6699475" y="1028425"/>
            <a:ext cx="1574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&lt; 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6207100" y="1939025"/>
            <a:ext cx="389700" cy="2589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7" name="Google Shape;177;p20"/>
          <p:cNvSpPr txBox="1"/>
          <p:nvPr>
            <p:ph type="title"/>
          </p:nvPr>
        </p:nvSpPr>
        <p:spPr>
          <a:xfrm>
            <a:off x="4530925" y="1017725"/>
            <a:ext cx="1574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 = t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baseline="-2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Swing Up Controller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311700" y="1152475"/>
            <a:ext cx="582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Energy addition method: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Around every zero crossing of </a:t>
            </a:r>
            <a:r>
              <a:rPr i="1"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"/>
              <a:t>, the cart moves in direction opposite to the direction of the velocity to increase the energy in the pendulum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Continues until pendulum is able to fully “swing up”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Simple proportional controller regulates cart position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activation is limited to a range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"/>
              <a:t>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∈ [-30,30]° </a:t>
            </a:r>
            <a:r>
              <a:rPr lang="en"/>
              <a:t>to try and reach inverted state with a sm</a:t>
            </a:r>
            <a:r>
              <a:rPr lang="en"/>
              <a:t>all velocity</a:t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6872900" y="1906275"/>
            <a:ext cx="1299300" cy="9660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highlight>
                  <a:schemeClr val="accent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400">
              <a:highlight>
                <a:schemeClr val="accent5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5" name="Google Shape;185;p21"/>
          <p:cNvCxnSpPr>
            <a:stCxn id="184" idx="2"/>
          </p:cNvCxnSpPr>
          <p:nvPr/>
        </p:nvCxnSpPr>
        <p:spPr>
          <a:xfrm>
            <a:off x="7522550" y="2872275"/>
            <a:ext cx="273000" cy="887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diamond"/>
          </a:ln>
        </p:spPr>
      </p:cxnSp>
      <p:sp>
        <p:nvSpPr>
          <p:cNvPr id="186" name="Google Shape;186;p21"/>
          <p:cNvSpPr/>
          <p:nvPr/>
        </p:nvSpPr>
        <p:spPr>
          <a:xfrm>
            <a:off x="7048275" y="2872275"/>
            <a:ext cx="183000" cy="183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7824350" y="2872275"/>
            <a:ext cx="183000" cy="183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8" name="Google Shape;188;p21"/>
          <p:cNvSpPr txBox="1"/>
          <p:nvPr>
            <p:ph type="title"/>
          </p:nvPr>
        </p:nvSpPr>
        <p:spPr>
          <a:xfrm>
            <a:off x="6736700" y="1338525"/>
            <a:ext cx="1574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 = t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baseline="-2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9" name="Google Shape;189;p21"/>
          <p:cNvCxnSpPr>
            <a:stCxn id="184" idx="3"/>
            <a:endCxn id="190" idx="1"/>
          </p:cNvCxnSpPr>
          <p:nvPr/>
        </p:nvCxnSpPr>
        <p:spPr>
          <a:xfrm>
            <a:off x="8172200" y="2389275"/>
            <a:ext cx="549300" cy="6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1" name="Google Shape;191;p21"/>
          <p:cNvSpPr txBox="1"/>
          <p:nvPr>
            <p:ph type="title"/>
          </p:nvPr>
        </p:nvSpPr>
        <p:spPr>
          <a:xfrm>
            <a:off x="8172200" y="1858550"/>
            <a:ext cx="7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u</a:t>
            </a:r>
            <a:endParaRPr baseline="-25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2" name="Google Shape;192;p21"/>
          <p:cNvCxnSpPr/>
          <p:nvPr/>
        </p:nvCxnSpPr>
        <p:spPr>
          <a:xfrm>
            <a:off x="7522550" y="2823900"/>
            <a:ext cx="5700" cy="2038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3" name="Google Shape;193;p21"/>
          <p:cNvSpPr txBox="1"/>
          <p:nvPr>
            <p:ph type="title"/>
          </p:nvPr>
        </p:nvSpPr>
        <p:spPr>
          <a:xfrm>
            <a:off x="6934850" y="3760825"/>
            <a:ext cx="1178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i="1" lang="en"/>
              <a:t>θ| &gt; </a:t>
            </a:r>
            <a:r>
              <a:rPr lang="en"/>
              <a:t>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7294150" y="3684675"/>
            <a:ext cx="409400" cy="67150"/>
          </a:xfrm>
          <a:custGeom>
            <a:rect b="b" l="l" r="r" t="t"/>
            <a:pathLst>
              <a:path extrusionOk="0" h="2686" w="16376">
                <a:moveTo>
                  <a:pt x="16376" y="1002"/>
                </a:moveTo>
                <a:cubicBezTo>
                  <a:pt x="15206" y="1281"/>
                  <a:pt x="12087" y="2841"/>
                  <a:pt x="9358" y="2674"/>
                </a:cubicBezTo>
                <a:cubicBezTo>
                  <a:pt x="6629" y="2507"/>
                  <a:pt x="1560" y="446"/>
                  <a:pt x="0" y="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>
            <p:ph type="title"/>
          </p:nvPr>
        </p:nvSpPr>
        <p:spPr>
          <a:xfrm>
            <a:off x="311700" y="445025"/>
            <a:ext cx="29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Balancing Controller</a:t>
            </a:r>
            <a:endParaRPr/>
          </a:p>
        </p:txBody>
      </p:sp>
      <p:sp>
        <p:nvSpPr>
          <p:cNvPr id="200" name="Google Shape;200;p2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Activates upon state entering: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θ*</a:t>
            </a:r>
            <a:r>
              <a:rPr lang="en"/>
              <a:t>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∈ [-23,23]°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"/>
              <a:t>Swing Up getting ‘close’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Stabilizes unstable equilibrium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Utilizes LQR/LQG with the model identified earlier to regulate both cart position and pendulum angle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Carefully tuned </a:t>
            </a:r>
            <a:r>
              <a:rPr lang="en"/>
              <a:t>parameters</a:t>
            </a:r>
            <a:r>
              <a:rPr lang="en"/>
              <a:t> to be as robust as possible </a:t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6872900" y="1906275"/>
            <a:ext cx="1299300" cy="9660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highlight>
                  <a:schemeClr val="accent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400">
              <a:highlight>
                <a:schemeClr val="accent5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2" name="Google Shape;202;p22"/>
          <p:cNvCxnSpPr>
            <a:stCxn id="201" idx="0"/>
          </p:cNvCxnSpPr>
          <p:nvPr/>
        </p:nvCxnSpPr>
        <p:spPr>
          <a:xfrm flipH="1" rot="10800000">
            <a:off x="7522550" y="1017675"/>
            <a:ext cx="278700" cy="888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diamond"/>
          </a:ln>
        </p:spPr>
      </p:cxnSp>
      <p:sp>
        <p:nvSpPr>
          <p:cNvPr id="203" name="Google Shape;203;p22"/>
          <p:cNvSpPr/>
          <p:nvPr/>
        </p:nvSpPr>
        <p:spPr>
          <a:xfrm>
            <a:off x="7048275" y="2872275"/>
            <a:ext cx="183000" cy="183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7824350" y="2872275"/>
            <a:ext cx="183000" cy="183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05" name="Google Shape;205;p22"/>
          <p:cNvCxnSpPr>
            <a:endCxn id="201" idx="0"/>
          </p:cNvCxnSpPr>
          <p:nvPr/>
        </p:nvCxnSpPr>
        <p:spPr>
          <a:xfrm flipH="1">
            <a:off x="7522550" y="419775"/>
            <a:ext cx="763500" cy="1486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2"/>
          <p:cNvCxnSpPr>
            <a:stCxn id="201" idx="0"/>
          </p:cNvCxnSpPr>
          <p:nvPr/>
        </p:nvCxnSpPr>
        <p:spPr>
          <a:xfrm flipH="1" rot="10800000">
            <a:off x="7522550" y="299775"/>
            <a:ext cx="17400" cy="1606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22"/>
          <p:cNvCxnSpPr/>
          <p:nvPr/>
        </p:nvCxnSpPr>
        <p:spPr>
          <a:xfrm rot="10800000">
            <a:off x="6774850" y="419675"/>
            <a:ext cx="763500" cy="1486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8" name="Google Shape;208;p22"/>
          <p:cNvSpPr txBox="1"/>
          <p:nvPr>
            <p:ph idx="1" type="body"/>
          </p:nvPr>
        </p:nvSpPr>
        <p:spPr>
          <a:xfrm>
            <a:off x="6297525" y="3817875"/>
            <a:ext cx="25584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Note: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θ*</a:t>
            </a:r>
            <a:r>
              <a:rPr lang="en"/>
              <a:t>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mod(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2π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) -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22"/>
          <p:cNvSpPr txBox="1"/>
          <p:nvPr>
            <p:ph type="title"/>
          </p:nvPr>
        </p:nvSpPr>
        <p:spPr>
          <a:xfrm>
            <a:off x="7048275" y="626075"/>
            <a:ext cx="503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θ*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2"/>
          <p:cNvSpPr/>
          <p:nvPr/>
        </p:nvSpPr>
        <p:spPr>
          <a:xfrm rot="7757171">
            <a:off x="7226447" y="1104212"/>
            <a:ext cx="274478" cy="117626"/>
          </a:xfrm>
          <a:custGeom>
            <a:rect b="b" l="l" r="r" t="t"/>
            <a:pathLst>
              <a:path extrusionOk="0" h="4705" w="10979">
                <a:moveTo>
                  <a:pt x="10979" y="4705"/>
                </a:moveTo>
                <a:cubicBezTo>
                  <a:pt x="9986" y="4601"/>
                  <a:pt x="6849" y="4862"/>
                  <a:pt x="5019" y="4078"/>
                </a:cubicBezTo>
                <a:cubicBezTo>
                  <a:pt x="3189" y="3294"/>
                  <a:pt x="837" y="680"/>
                  <a:pt x="0" y="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>
            <p:ph type="title"/>
          </p:nvPr>
        </p:nvSpPr>
        <p:spPr>
          <a:xfrm>
            <a:off x="311700" y="445025"/>
            <a:ext cx="3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Catching Controller</a:t>
            </a:r>
            <a:endParaRPr/>
          </a:p>
        </p:txBody>
      </p:sp>
      <p:sp>
        <p:nvSpPr>
          <p:cNvPr id="216" name="Google Shape;216;p23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Activates upon state entering: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"/>
              <a:t>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∈ [-90,90]°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"/>
              <a:t>Pendulum Falls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Also utilizes LQR/LQG, this time to return to the bottom stable position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Brings pendulum back into predictable state to start Swing Up Controller</a:t>
            </a: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6872900" y="1906275"/>
            <a:ext cx="1299300" cy="9660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highlight>
                  <a:schemeClr val="accent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400">
              <a:highlight>
                <a:schemeClr val="accent5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7048275" y="2872275"/>
            <a:ext cx="183000" cy="183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7824350" y="2872275"/>
            <a:ext cx="183000" cy="183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20" name="Google Shape;220;p23"/>
          <p:cNvCxnSpPr/>
          <p:nvPr/>
        </p:nvCxnSpPr>
        <p:spPr>
          <a:xfrm flipH="1">
            <a:off x="7251750" y="2872275"/>
            <a:ext cx="278700" cy="888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221" name="Google Shape;221;p23"/>
          <p:cNvCxnSpPr/>
          <p:nvPr/>
        </p:nvCxnSpPr>
        <p:spPr>
          <a:xfrm flipH="1" rot="10800000">
            <a:off x="6766950" y="2872275"/>
            <a:ext cx="763500" cy="1486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3"/>
          <p:cNvCxnSpPr/>
          <p:nvPr/>
        </p:nvCxnSpPr>
        <p:spPr>
          <a:xfrm flipH="1">
            <a:off x="7513050" y="2872275"/>
            <a:ext cx="17400" cy="1606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3"/>
          <p:cNvCxnSpPr/>
          <p:nvPr/>
        </p:nvCxnSpPr>
        <p:spPr>
          <a:xfrm>
            <a:off x="7514650" y="2872375"/>
            <a:ext cx="763500" cy="1486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4" name="Google Shape;224;p23"/>
          <p:cNvSpPr txBox="1"/>
          <p:nvPr>
            <p:ph type="title"/>
          </p:nvPr>
        </p:nvSpPr>
        <p:spPr>
          <a:xfrm>
            <a:off x="7501625" y="3579775"/>
            <a:ext cx="503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3"/>
          <p:cNvSpPr/>
          <p:nvPr/>
        </p:nvSpPr>
        <p:spPr>
          <a:xfrm rot="-3042829">
            <a:off x="7552075" y="3556712"/>
            <a:ext cx="274478" cy="117626"/>
          </a:xfrm>
          <a:custGeom>
            <a:rect b="b" l="l" r="r" t="t"/>
            <a:pathLst>
              <a:path extrusionOk="0" h="4705" w="10979">
                <a:moveTo>
                  <a:pt x="10979" y="4705"/>
                </a:moveTo>
                <a:cubicBezTo>
                  <a:pt x="9986" y="4601"/>
                  <a:pt x="6849" y="4862"/>
                  <a:pt x="5019" y="4078"/>
                </a:cubicBezTo>
                <a:cubicBezTo>
                  <a:pt x="3189" y="3294"/>
                  <a:pt x="837" y="680"/>
                  <a:pt x="0" y="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4" title="Screenshot 2025-06-02 at 5.38.15 PM.png"/>
          <p:cNvPicPr preferRelativeResize="0"/>
          <p:nvPr/>
        </p:nvPicPr>
        <p:blipFill rotWithShape="1">
          <a:blip r:embed="rId3">
            <a:alphaModFix/>
          </a:blip>
          <a:srcRect b="0" l="0" r="0" t="3101"/>
          <a:stretch/>
        </p:blipFill>
        <p:spPr>
          <a:xfrm>
            <a:off x="663150" y="1152475"/>
            <a:ext cx="7817700" cy="3774900"/>
          </a:xfrm>
          <a:prstGeom prst="roundRect">
            <a:avLst>
              <a:gd fmla="val 3979" name="adj"/>
            </a:avLst>
          </a:prstGeom>
          <a:noFill/>
          <a:ln>
            <a:noFill/>
          </a:ln>
        </p:spPr>
      </p:pic>
      <p:sp>
        <p:nvSpPr>
          <p:cNvPr id="231" name="Google Shape;2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Controller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Switching</a:t>
            </a:r>
            <a:endParaRPr/>
          </a:p>
        </p:txBody>
      </p:sp>
      <p:pic>
        <p:nvPicPr>
          <p:cNvPr id="237" name="Google Shape;237;p25" title="Screenshot 2025-06-02 at 5.53.2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987" y="1017725"/>
            <a:ext cx="8360023" cy="407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Balancing</a:t>
            </a:r>
            <a:endParaRPr/>
          </a:p>
        </p:txBody>
      </p:sp>
      <p:pic>
        <p:nvPicPr>
          <p:cNvPr id="243" name="Google Shape;243;p26" title="Screenshot 2025-06-02 at 5.54.4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000" y="1157438"/>
            <a:ext cx="8421999" cy="3912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Catching</a:t>
            </a:r>
            <a:endParaRPr/>
          </a:p>
        </p:txBody>
      </p:sp>
      <p:pic>
        <p:nvPicPr>
          <p:cNvPr id="249" name="Google Shape;249;p27" title="Screenshot 2025-06-02 at 5.56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713"/>
            <a:ext cx="9144003" cy="390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"/>
          <p:cNvSpPr/>
          <p:nvPr/>
        </p:nvSpPr>
        <p:spPr>
          <a:xfrm>
            <a:off x="466500" y="2186929"/>
            <a:ext cx="8300413" cy="82758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1">
                <a:ln>
                  <a:noFill/>
                </a:ln>
                <a:solidFill>
                  <a:schemeClr val="dk1"/>
                </a:solidFill>
                <a:latin typeface="Avenir"/>
              </a:rPr>
              <a:t>Go to Lab Station</a:t>
            </a:r>
          </a:p>
        </p:txBody>
      </p:sp>
      <p:sp>
        <p:nvSpPr>
          <p:cNvPr id="255" name="Google Shape;25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</a:t>
            </a:r>
            <a:endParaRPr/>
          </a:p>
        </p:txBody>
      </p:sp>
      <p:sp>
        <p:nvSpPr>
          <p:cNvPr id="256" name="Google Shape;256;p28"/>
          <p:cNvSpPr/>
          <p:nvPr/>
        </p:nvSpPr>
        <p:spPr>
          <a:xfrm>
            <a:off x="421788" y="2157960"/>
            <a:ext cx="8300413" cy="82758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1">
                <a:ln>
                  <a:noFill/>
                </a:ln>
                <a:solidFill>
                  <a:schemeClr val="accent5"/>
                </a:solidFill>
                <a:latin typeface="Avenir"/>
              </a:rPr>
              <a:t>Go to Lab Station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262" name="Google Shape;26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Introduce correction term to account for steady state error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robust failure logic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Acknowledgement</a:t>
            </a:r>
            <a:endParaRPr/>
          </a:p>
        </p:txBody>
      </p:sp>
      <p:sp>
        <p:nvSpPr>
          <p:cNvPr id="268" name="Google Shape;26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Zeki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Joao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